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5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F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03"/>
    <p:restoredTop sz="94750"/>
  </p:normalViewPr>
  <p:slideViewPr>
    <p:cSldViewPr snapToGrid="0">
      <p:cViewPr varScale="1">
        <p:scale>
          <a:sx n="132" d="100"/>
          <a:sy n="132" d="100"/>
        </p:scale>
        <p:origin x="16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notesMaster" Target="notesMasters/notesMaster1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8517A-3C32-A847-B04A-36BF12899FDE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81ED2-B918-9E42-BE7F-BFEBE4B1D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071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981ED2-B918-9E42-BE7F-BFEBE4B1D6F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32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97CA0-171D-9B16-C719-58348087FD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1A6A4-5651-83B5-C784-E095E1F492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BC6C2-A4DD-0563-164A-E44F54C72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3F7D8-9CF5-3D40-9237-35F8C59C083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707C4-8177-FB27-7893-F34F898E3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52528-5BFC-D3D3-749E-3EF48D9F3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95066-3754-264D-AAE4-DE1808CB8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75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75CB4-07B7-1011-4ED0-15FC468D8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67E99-E298-772E-7A0E-D85E82782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C61A9-0454-3C9E-03B3-DFA857E60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3F7D8-9CF5-3D40-9237-35F8C59C083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2B14D-57E1-325C-5C9D-D2DA23F70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A72ED-BBEF-D0BB-FC38-AECF1FCD9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95066-3754-264D-AAE4-DE1808CB8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375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92EBE-790D-60B7-D912-2F93130CD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706D66-6FEF-8CFE-5BB6-A509934FD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FC83E-FC44-C472-BC4D-33BE8BC83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3F7D8-9CF5-3D40-9237-35F8C59C083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BC5FE-47AF-95CC-7F10-C38F8B378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41BE1-BE27-38AC-D508-964043709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95066-3754-264D-AAE4-DE1808CB8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432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393D9-6133-D3DE-FC44-C3AD17ED6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876DC-8F34-8FD9-218C-24D044BF81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ACCA64-C32D-C770-8574-74519E290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33C9E7-2C86-A488-41DE-36AB685B0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3F7D8-9CF5-3D40-9237-35F8C59C083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201950-2EFB-A570-D2EE-89BBB5AD5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C97265-F84A-275D-0BEF-A70CA5E1E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95066-3754-264D-AAE4-DE1808CB8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373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0EBBB-9559-BE06-6F0D-9CCA3D671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FCD99-C077-9FA3-0791-44407213D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075782-735D-2D6B-E237-73B7FD674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C41CC7-7958-F499-2AC6-41C7909158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E2CC9B-3A97-8FE9-2A88-6767253EA7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CB6F97-9EA6-C78E-9B39-0DDB8CB97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3F7D8-9CF5-3D40-9237-35F8C59C083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60AA8F-8742-36C4-B30F-90E4AE8ED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442491-4084-6112-9536-F9DB1BCC2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95066-3754-264D-AAE4-DE1808CB8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462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62172-B745-EADD-1E02-D34CBA9C2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1DA83F-5B78-D508-0791-A2C0F5A31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3F7D8-9CF5-3D40-9237-35F8C59C083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36FE6F-AA81-C06A-02C8-B1E99D179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3BF6AE-0E86-71A1-792A-D4FF0BB44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95066-3754-264D-AAE4-DE1808CB8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387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62B59-956D-2838-1F93-15622A00A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3F7D8-9CF5-3D40-9237-35F8C59C083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04EA0A-7CB6-879B-CFCF-EB3BC4D2C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8B4E3-278F-794C-E64C-919DDD60B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95066-3754-264D-AAE4-DE1808CB8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787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5AEB2-DB55-A908-8DF3-D99731A97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D4C31-AEEB-231E-E413-300FA15C7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A2AFC4-12F8-57C8-BF7D-5F9EA1257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FE79BB-B2B7-CF24-FEEE-C24A61C7A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3F7D8-9CF5-3D40-9237-35F8C59C083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7AFEE2-2957-3641-2D91-2D90F9E1B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F9D0E-7D82-7A75-8A70-12ACB9AAB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95066-3754-264D-AAE4-DE1808CB8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640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A9CBC-4F30-1EB2-5607-5085A53B5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00613A-7C89-03F9-7293-DC28976B7A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DE3696-6020-01B7-9F92-E0662A1462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03F3B-0A22-33C1-ED3F-63C1278A5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3F7D8-9CF5-3D40-9237-35F8C59C083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F09C3-9D79-719C-343C-F70BD373A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620BDC-9993-2518-CCAE-EB5ED7209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95066-3754-264D-AAE4-DE1808CB8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385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09C1B-D937-17F7-4048-C8444D64D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FB56D5-D21F-D5CE-D44E-371539A7C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867CB-8CE7-AC9F-696A-4966C14E6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3F7D8-9CF5-3D40-9237-35F8C59C083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228F5-1C18-C4E5-3F33-A7058F46F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08763-0970-1C1E-ABA7-F27A6A4A2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95066-3754-264D-AAE4-DE1808CB8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323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10CD50-5EE2-94EE-2E46-2F03EE41C1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6FD884-1634-8770-18CB-C5B7EE03BC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E12ED-6A29-A000-5C95-3DE212FF0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3F7D8-9CF5-3D40-9237-35F8C59C083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2B539-67E8-2F27-9C77-28A530F7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1B3B-4F1D-2620-4C45-4238D26E9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95066-3754-264D-AAE4-DE1808CB8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116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0B30B4-7CA5-D956-D4F7-DE9E3C02D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11AA7D-79C0-1B8C-B246-AACB51DC5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2EFB4-3A96-9FA0-CF97-B9972E895B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43F7D8-9CF5-3D40-9237-35F8C59C083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C1374-E83F-57F4-5725-D4D454E93E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6DA70-1380-5CC3-A57A-D18E8EB672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D95066-3754-264D-AAE4-DE1808CB8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600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864752-4243-51D3-E615-61A02AC14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CMPG213 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B00997-BFBD-E5DD-EB44-B10355E8DF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000" b="1" dirty="0"/>
              <a:t>Presented by Group 6: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50344226</a:t>
            </a:r>
            <a:r>
              <a:rPr lang="en-US" sz="2000" dirty="0">
                <a:effectLst/>
              </a:rPr>
              <a:t> – </a:t>
            </a:r>
            <a:r>
              <a:rPr lang="en-US" sz="2000" dirty="0" err="1">
                <a:effectLst/>
              </a:rPr>
              <a:t>Kutloano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Sabalele</a:t>
            </a:r>
            <a:endParaRPr lang="en-US" sz="20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50763679 – Lindokuhle </a:t>
            </a:r>
            <a:r>
              <a:rPr lang="en-US" sz="2000" dirty="0" err="1"/>
              <a:t>Kweta</a:t>
            </a:r>
            <a:endParaRPr lang="en-US" sz="20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45662878 – Ruan Venter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55810608 – Reinhardt van der Walt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55807593 </a:t>
            </a:r>
            <a:r>
              <a:rPr lang="en-US" sz="2000" dirty="0"/>
              <a:t>–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Sibane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Ndhlela</a:t>
            </a:r>
            <a:endParaRPr lang="en-US" sz="2000" dirty="0">
              <a:effectLst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55985866 – </a:t>
            </a:r>
            <a:r>
              <a:rPr lang="en-US" sz="2000" dirty="0" err="1">
                <a:effectLst/>
              </a:rPr>
              <a:t>Whandré</a:t>
            </a:r>
            <a:r>
              <a:rPr lang="en-US" sz="2000" dirty="0">
                <a:effectLst/>
              </a:rPr>
              <a:t> Singleton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50536192 – </a:t>
            </a:r>
            <a:r>
              <a:rPr lang="en-US" sz="2000" dirty="0" err="1"/>
              <a:t>Zizipho</a:t>
            </a:r>
            <a:r>
              <a:rPr lang="en-US" sz="2000" dirty="0"/>
              <a:t> </a:t>
            </a:r>
            <a:r>
              <a:rPr lang="en-US" sz="2000" dirty="0" err="1"/>
              <a:t>Zingelwa</a:t>
            </a:r>
            <a:endParaRPr lang="en-US" sz="2000" dirty="0">
              <a:effectLst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>
              <a:effectLst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E1D5764-A4EC-AA6B-6E91-53716EB28CB1}"/>
              </a:ext>
            </a:extLst>
          </p:cNvPr>
          <p:cNvSpPr txBox="1">
            <a:spLocks/>
          </p:cNvSpPr>
          <p:nvPr/>
        </p:nvSpPr>
        <p:spPr>
          <a:xfrm>
            <a:off x="463674" y="3941248"/>
            <a:ext cx="3201366" cy="3574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dirty="0">
                <a:solidFill>
                  <a:srgbClr val="FFFFFF"/>
                </a:solidFill>
              </a:rPr>
              <a:t>Travel Agency Information System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F972AA3-1F30-7E58-F437-B91CF22E0044}"/>
              </a:ext>
            </a:extLst>
          </p:cNvPr>
          <p:cNvSpPr txBox="1">
            <a:spLocks/>
          </p:cNvSpPr>
          <p:nvPr/>
        </p:nvSpPr>
        <p:spPr>
          <a:xfrm>
            <a:off x="699607" y="6360696"/>
            <a:ext cx="3201366" cy="3574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dirty="0">
                <a:solidFill>
                  <a:srgbClr val="FFFFFF"/>
                </a:solidFill>
              </a:rPr>
              <a:t>Date presented: 2026/03/xx</a:t>
            </a:r>
          </a:p>
        </p:txBody>
      </p:sp>
    </p:spTree>
    <p:extLst>
      <p:ext uri="{BB962C8B-B14F-4D97-AF65-F5344CB8AC3E}">
        <p14:creationId xmlns:p14="http://schemas.microsoft.com/office/powerpoint/2010/main" val="1050060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C690C-7CA1-352D-9032-A0B572314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TABLE OF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D9E50-361B-CAD6-80AC-17E23C128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1. Background</a:t>
            </a:r>
          </a:p>
          <a:p>
            <a:pPr marL="0" indent="0">
              <a:buNone/>
            </a:pPr>
            <a:r>
              <a:rPr lang="en-US" sz="2000" dirty="0"/>
              <a:t>2. Problem Statement</a:t>
            </a:r>
          </a:p>
          <a:p>
            <a:pPr marL="0" indent="0">
              <a:buNone/>
            </a:pPr>
            <a:r>
              <a:rPr lang="en-US" sz="2000" dirty="0"/>
              <a:t>3. Constraints</a:t>
            </a:r>
          </a:p>
          <a:p>
            <a:pPr marL="0" indent="0">
              <a:buNone/>
            </a:pPr>
            <a:r>
              <a:rPr lang="en-US" sz="2000" dirty="0"/>
              <a:t>4. Scope Definition</a:t>
            </a:r>
          </a:p>
          <a:p>
            <a:pPr marL="0" indent="0">
              <a:buNone/>
            </a:pPr>
            <a:r>
              <a:rPr lang="en-US" sz="2000" dirty="0"/>
              <a:t>5. Goals for the Project</a:t>
            </a:r>
          </a:p>
          <a:p>
            <a:pPr marL="0" indent="0">
              <a:buNone/>
            </a:pPr>
            <a:r>
              <a:rPr lang="en-US" sz="2000" dirty="0"/>
              <a:t>6. Opportunities to Improve</a:t>
            </a:r>
          </a:p>
          <a:p>
            <a:pPr marL="0" indent="0">
              <a:buNone/>
            </a:pPr>
            <a:r>
              <a:rPr lang="en-US" sz="2000" dirty="0"/>
              <a:t>7. Schedule</a:t>
            </a:r>
          </a:p>
          <a:p>
            <a:pPr marL="0" indent="0">
              <a:buNone/>
            </a:pPr>
            <a:r>
              <a:rPr lang="en-US" sz="2000" dirty="0"/>
              <a:t>8. Budget</a:t>
            </a:r>
          </a:p>
          <a:p>
            <a:pPr marL="0" indent="0">
              <a:buNone/>
            </a:pPr>
            <a:r>
              <a:rPr lang="en-US" sz="2000" dirty="0"/>
              <a:t>9. Internal Resources</a:t>
            </a:r>
          </a:p>
        </p:txBody>
      </p:sp>
    </p:spTree>
    <p:extLst>
      <p:ext uri="{BB962C8B-B14F-4D97-AF65-F5344CB8AC3E}">
        <p14:creationId xmlns:p14="http://schemas.microsoft.com/office/powerpoint/2010/main" val="898600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22567-E25D-0AA2-0A27-4EF389D9C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1.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180BE-5654-2039-11F1-BC8D4CB08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Ubuntu Travel (Travelling Better Together) </a:t>
            </a:r>
            <a:r>
              <a:rPr lang="en-US" sz="2000" dirty="0"/>
              <a:t>is a franchised travel agency operating across South Africa. The company offers comprehensive travel solutions to private (local and international) and corporate clients:</a:t>
            </a:r>
          </a:p>
          <a:p>
            <a:pPr>
              <a:lnSpc>
                <a:spcPct val="160000"/>
              </a:lnSpc>
            </a:pPr>
            <a:r>
              <a:rPr lang="en-US" sz="2000" dirty="0"/>
              <a:t> Booking accommodation with their nation-wide, inhouse accommodation.</a:t>
            </a:r>
          </a:p>
          <a:p>
            <a:r>
              <a:rPr lang="en-US" sz="2000" dirty="0"/>
              <a:t>Managing transport – coordination of flights, car rentals, and bus shuttles. </a:t>
            </a:r>
          </a:p>
          <a:p>
            <a:r>
              <a:rPr lang="en-US" sz="2000" dirty="0"/>
              <a:t>Managing clients’ trip expenses and itineraries tailored to their preferred leisure activities. 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Their brand embodies a trusted travel companion, comfort and relaxation.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823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F6225-ACAB-6ED0-4200-3A5CDA737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2.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C5C82-F8F0-5C00-CBBF-72C2C30D7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 agency expanded rapidly after extending its services to international clients. Travel agents are overwhelmed with telephonic inquiries, bookings, and customer service demands, leading to inefficiencies and delays. 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Management lacks timely facts for decision-making due to slow, manual reporting and heavy employee workloads. </a:t>
            </a:r>
          </a:p>
          <a:p>
            <a:r>
              <a:rPr lang="en-US" sz="2000" dirty="0"/>
              <a:t>Administrative processes are disorganized with notes in personal notebooks as the leading contributing factor. </a:t>
            </a:r>
          </a:p>
          <a:p>
            <a:r>
              <a:rPr lang="en-US" sz="2000" dirty="0"/>
              <a:t>Customers are dissatisfied with slow response times, harming the agency’s reputation. </a:t>
            </a:r>
          </a:p>
        </p:txBody>
      </p:sp>
    </p:spTree>
    <p:extLst>
      <p:ext uri="{BB962C8B-B14F-4D97-AF65-F5344CB8AC3E}">
        <p14:creationId xmlns:p14="http://schemas.microsoft.com/office/powerpoint/2010/main" val="2547603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40301-9885-CC3C-C86A-02EADB0A5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3. CONTRAINTS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72E03-A637-5345-9D6A-0ED63C5A8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Project budget: R2,000,000.00</a:t>
            </a:r>
          </a:p>
          <a:p>
            <a:r>
              <a:rPr lang="en-US" sz="2000" dirty="0"/>
              <a:t>The System Analysts, Designers, and Builders are all students with limited prior enterprise-level system design. </a:t>
            </a:r>
          </a:p>
          <a:p>
            <a:r>
              <a:rPr lang="en-US" sz="2000" dirty="0"/>
              <a:t>The project must be fully developed, tested, and implemented by 30 September 2026. </a:t>
            </a:r>
          </a:p>
        </p:txBody>
      </p:sp>
    </p:spTree>
    <p:extLst>
      <p:ext uri="{BB962C8B-B14F-4D97-AF65-F5344CB8AC3E}">
        <p14:creationId xmlns:p14="http://schemas.microsoft.com/office/powerpoint/2010/main" val="2039353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04790-5F39-F5C0-D40C-DCE1D273E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4. SCOPE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AC1DC-3C0A-4525-630D-2B9D42F75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 system must have the following functionality: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Maintaining system users and access</a:t>
            </a:r>
          </a:p>
          <a:p>
            <a:r>
              <a:rPr lang="en-US" sz="2000" dirty="0"/>
              <a:t>Maintaining attractions</a:t>
            </a:r>
          </a:p>
          <a:p>
            <a:r>
              <a:rPr lang="en-US" sz="2000" dirty="0"/>
              <a:t>Maintaining accommodation</a:t>
            </a:r>
          </a:p>
          <a:p>
            <a:r>
              <a:rPr lang="en-US" sz="2000" dirty="0"/>
              <a:t>Maintaining transport</a:t>
            </a:r>
          </a:p>
          <a:p>
            <a:r>
              <a:rPr lang="en-US" sz="2000" dirty="0"/>
              <a:t>Managing trip expenses</a:t>
            </a:r>
          </a:p>
          <a:p>
            <a:r>
              <a:rPr lang="en-US" sz="2000" dirty="0"/>
              <a:t>Managing itineraries</a:t>
            </a:r>
          </a:p>
          <a:p>
            <a:r>
              <a:rPr lang="en-US" sz="2000" dirty="0"/>
              <a:t>Exporting data to Excel and PDF</a:t>
            </a:r>
          </a:p>
          <a:p>
            <a:r>
              <a:rPr lang="en-US" sz="2000" dirty="0"/>
              <a:t>Reporting on operational activities through graphical visual elements</a:t>
            </a:r>
          </a:p>
        </p:txBody>
      </p:sp>
    </p:spTree>
    <p:extLst>
      <p:ext uri="{BB962C8B-B14F-4D97-AF65-F5344CB8AC3E}">
        <p14:creationId xmlns:p14="http://schemas.microsoft.com/office/powerpoint/2010/main" val="2577572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398B1-BD94-ABB4-39B5-01F1D1A2E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5. PROJECT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7CB56-7188-A966-61CA-3D1037A6B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u="sng" dirty="0"/>
              <a:t>5.1. IMPROVING PROCESSES: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Reduce time spent on compiling reports by automating reporting.</a:t>
            </a:r>
          </a:p>
          <a:p>
            <a:r>
              <a:rPr lang="en-US" sz="2000" dirty="0"/>
              <a:t>Track progress on client inquiries by logging trips on the system instead of making notes in notebooks.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u="sng" dirty="0"/>
              <a:t>5.2. IMPROVING KNOWLEDGE:</a:t>
            </a:r>
          </a:p>
          <a:p>
            <a:pPr marL="0" indent="0">
              <a:buNone/>
            </a:pP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dirty="0"/>
              <a:t>Create reports to identify seasonal trends, tourism hotspots, and frequently used car rentals. 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Create reports to analyze revenue generated, profit, loss and average money spent per client. 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Create reports to highlight employee performance and operational inefficiencies to improve</a:t>
            </a:r>
          </a:p>
          <a:p>
            <a:pPr marL="0" indent="0">
              <a:buNone/>
            </a:pP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800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FAD8F-AFB6-5218-59D8-4460C61ED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718458E-4057-A388-70AD-91300B61C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012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u="sng" dirty="0"/>
              <a:t>5.3. IMPROVING COMMUNICATION:</a:t>
            </a:r>
          </a:p>
          <a:p>
            <a:pPr marL="0" indent="0">
              <a:buNone/>
            </a:pP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dirty="0"/>
              <a:t>Improve agent response times to customers by creating reports to highlight employee performance and operational inefficiencies, providing management with a platform to give agents targets. 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Take pressure off agents by creating a client portal to view, select and submit all accommodation and transport options, and leisure activities, with costs included, which will notify the agent on the system.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Provide international clients with a currency conversion calculator.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642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C08E6-4C9F-EEE8-071E-4B30B4BCA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6. OPPORTUNITIES TO IMPROVE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45BC3-9B89-3FC8-11EE-D01165640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Develop a module to indicate the stock location of car rentals to identify where there are surpluses or shortages of rentals. </a:t>
            </a:r>
          </a:p>
          <a:p>
            <a:pPr lvl="1">
              <a:lnSpc>
                <a:spcPct val="120000"/>
              </a:lnSpc>
            </a:pPr>
            <a:r>
              <a:rPr lang="en-US" u="sng" dirty="0"/>
              <a:t>Reason:</a:t>
            </a:r>
            <a:r>
              <a:rPr lang="en-US" dirty="0"/>
              <a:t> Some cars are used more often than others due to convenience of their location. </a:t>
            </a:r>
          </a:p>
          <a:p>
            <a:pPr lvl="1">
              <a:lnSpc>
                <a:spcPct val="120000"/>
              </a:lnSpc>
            </a:pPr>
            <a:r>
              <a:rPr lang="en-US" u="sng" dirty="0"/>
              <a:t>Benefit:</a:t>
            </a:r>
            <a:r>
              <a:rPr lang="en-US" dirty="0"/>
              <a:t> Ensures cars don’t overrun their kilometer warranties prematurely by distributing vehicles proportionally. </a:t>
            </a:r>
          </a:p>
          <a:p>
            <a:pPr>
              <a:lnSpc>
                <a:spcPct val="120000"/>
              </a:lnSpc>
            </a:pPr>
            <a:r>
              <a:rPr lang="en-US" dirty="0"/>
              <a:t>Develop a module to manage car rental maintenance schedules</a:t>
            </a:r>
          </a:p>
          <a:p>
            <a:pPr lvl="1">
              <a:lnSpc>
                <a:spcPct val="120000"/>
              </a:lnSpc>
            </a:pPr>
            <a:r>
              <a:rPr lang="en-US" u="sng" dirty="0"/>
              <a:t>Reason:</a:t>
            </a:r>
            <a:r>
              <a:rPr lang="en-US" dirty="0"/>
              <a:t> Service records are not fully complaint to safety compliance standards. </a:t>
            </a:r>
          </a:p>
          <a:p>
            <a:pPr lvl="1">
              <a:lnSpc>
                <a:spcPct val="120000"/>
              </a:lnSpc>
            </a:pPr>
            <a:r>
              <a:rPr lang="en-US" u="sng" dirty="0"/>
              <a:t>Benefit:</a:t>
            </a:r>
            <a:r>
              <a:rPr lang="en-US" dirty="0"/>
              <a:t> Safety audit records are accessible on the system.</a:t>
            </a:r>
          </a:p>
          <a:p>
            <a:pPr>
              <a:lnSpc>
                <a:spcPct val="120000"/>
              </a:lnSpc>
            </a:pPr>
            <a:r>
              <a:rPr lang="en-US" dirty="0"/>
              <a:t>Develop functionality for all trip itineraries to be exported to PDF documents. </a:t>
            </a:r>
          </a:p>
          <a:p>
            <a:pPr lvl="1">
              <a:lnSpc>
                <a:spcPct val="120000"/>
              </a:lnSpc>
            </a:pPr>
            <a:r>
              <a:rPr lang="en-US" u="sng" dirty="0"/>
              <a:t>Reason:</a:t>
            </a:r>
            <a:r>
              <a:rPr lang="en-US" dirty="0"/>
              <a:t> Some rural regions have limited to no internet connection. </a:t>
            </a:r>
          </a:p>
          <a:p>
            <a:pPr lvl="1">
              <a:lnSpc>
                <a:spcPct val="120000"/>
              </a:lnSpc>
            </a:pPr>
            <a:r>
              <a:rPr lang="en-US" u="sng" dirty="0"/>
              <a:t>Benefit:</a:t>
            </a:r>
            <a:r>
              <a:rPr lang="en-US" dirty="0"/>
              <a:t> Client can download and save their itineraries offline which are accessible at anytime. </a:t>
            </a:r>
          </a:p>
        </p:txBody>
      </p:sp>
    </p:spTree>
    <p:extLst>
      <p:ext uri="{BB962C8B-B14F-4D97-AF65-F5344CB8AC3E}">
        <p14:creationId xmlns:p14="http://schemas.microsoft.com/office/powerpoint/2010/main" val="3003578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23EAB-3777-FEE5-E53B-4BC1B9F5B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7. PROJECT SCHEDULE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F7689EE-CDF6-8019-A735-807B9C2790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4999568"/>
              </p:ext>
            </p:extLst>
          </p:nvPr>
        </p:nvGraphicFramePr>
        <p:xfrm>
          <a:off x="838203" y="1539875"/>
          <a:ext cx="10515597" cy="495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6064">
                  <a:extLst>
                    <a:ext uri="{9D8B030D-6E8A-4147-A177-3AD203B41FA5}">
                      <a16:colId xmlns:a16="http://schemas.microsoft.com/office/drawing/2014/main" val="1524186277"/>
                    </a:ext>
                  </a:extLst>
                </a:gridCol>
                <a:gridCol w="6529891">
                  <a:extLst>
                    <a:ext uri="{9D8B030D-6E8A-4147-A177-3AD203B41FA5}">
                      <a16:colId xmlns:a16="http://schemas.microsoft.com/office/drawing/2014/main" val="2035338932"/>
                    </a:ext>
                  </a:extLst>
                </a:gridCol>
                <a:gridCol w="1639642">
                  <a:extLst>
                    <a:ext uri="{9D8B030D-6E8A-4147-A177-3AD203B41FA5}">
                      <a16:colId xmlns:a16="http://schemas.microsoft.com/office/drawing/2014/main" val="40211671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Proposed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356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Scope 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Scope definition documented in the project proposal.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2026/03/02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074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Problem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Define existing problems, propose solutions, identify business opportunities, and establishing constraints.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2026/03/02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757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Requirement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Business requirement statements</a:t>
                      </a:r>
                      <a:endParaRPr lang="en-ZA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2025/03/23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19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Logical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Specifications and the logical system modules</a:t>
                      </a:r>
                      <a:r>
                        <a:rPr lang="en-ZA" dirty="0">
                          <a:effectLst/>
                        </a:rPr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2026/04/14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3309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Decision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Candidate solution evaluation and selection in terms of technical, operational, economic, schedule, and risk feasibility.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2026/05/04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122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Physical design &amp;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Design models, detail specifications, develop prototypes, and redesign business processes.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2026/07/24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867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Construction &amp;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Develop the database, custom-built software, and user interfaces (Windows or Web). Create a thorough test plan.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2026/08/14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606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Installation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Conclude the project with delivery of a fully operational product, review document quality, and provide an operational manual.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2026/09/30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64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908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94982-2341-7031-A1AB-77A7A15B2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8. BUDGET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5C6A92-4BA2-37A8-C1CB-3C878D99BE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332079"/>
              </p:ext>
            </p:extLst>
          </p:nvPr>
        </p:nvGraphicFramePr>
        <p:xfrm>
          <a:off x="838201" y="1690688"/>
          <a:ext cx="10515599" cy="41518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2237">
                  <a:extLst>
                    <a:ext uri="{9D8B030D-6E8A-4147-A177-3AD203B41FA5}">
                      <a16:colId xmlns:a16="http://schemas.microsoft.com/office/drawing/2014/main" val="1201149660"/>
                    </a:ext>
                  </a:extLst>
                </a:gridCol>
                <a:gridCol w="4363033">
                  <a:extLst>
                    <a:ext uri="{9D8B030D-6E8A-4147-A177-3AD203B41FA5}">
                      <a16:colId xmlns:a16="http://schemas.microsoft.com/office/drawing/2014/main" val="2047436569"/>
                    </a:ext>
                  </a:extLst>
                </a:gridCol>
                <a:gridCol w="2186041">
                  <a:extLst>
                    <a:ext uri="{9D8B030D-6E8A-4147-A177-3AD203B41FA5}">
                      <a16:colId xmlns:a16="http://schemas.microsoft.com/office/drawing/2014/main" val="3441904305"/>
                    </a:ext>
                  </a:extLst>
                </a:gridCol>
                <a:gridCol w="2504288">
                  <a:extLst>
                    <a:ext uri="{9D8B030D-6E8A-4147-A177-3AD203B41FA5}">
                      <a16:colId xmlns:a16="http://schemas.microsoft.com/office/drawing/2014/main" val="3677672852"/>
                    </a:ext>
                  </a:extLst>
                </a:gridCol>
              </a:tblGrid>
              <a:tr h="575089">
                <a:tc>
                  <a:txBody>
                    <a:bodyPr/>
                    <a:lstStyle/>
                    <a:p>
                      <a:r>
                        <a:rPr lang="en-US" sz="1800" dirty="0"/>
                        <a:t>Expense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Calculation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Amount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940912"/>
                  </a:ext>
                </a:extLst>
              </a:tr>
              <a:tr h="565778">
                <a:tc>
                  <a:txBody>
                    <a:bodyPr/>
                    <a:lstStyle/>
                    <a:p>
                      <a:r>
                        <a:rPr lang="en-US" sz="1800" dirty="0"/>
                        <a:t>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 computer used as a server to store database information. 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 50,000.00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358840"/>
                  </a:ext>
                </a:extLst>
              </a:tr>
              <a:tr h="597738">
                <a:tc>
                  <a:txBody>
                    <a:bodyPr/>
                    <a:lstStyle/>
                    <a:p>
                      <a:r>
                        <a:rPr lang="en-US" sz="1800" dirty="0"/>
                        <a:t>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Visual Studio Professional license</a:t>
                      </a:r>
                      <a:endParaRPr lang="en-ZA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R1,600.00 per month * 8 months</a:t>
                      </a:r>
                      <a:endParaRPr lang="en-ZA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R12,800.00</a:t>
                      </a:r>
                      <a:endParaRPr lang="en-ZA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9720667"/>
                  </a:ext>
                </a:extLst>
              </a:tr>
              <a:tr h="647855">
                <a:tc>
                  <a:txBody>
                    <a:bodyPr/>
                    <a:lstStyle/>
                    <a:p>
                      <a:r>
                        <a:rPr lang="en-US" sz="1800" dirty="0"/>
                        <a:t>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Microsoft 365 Business Standard</a:t>
                      </a:r>
                      <a:endParaRPr lang="en-ZA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R200.00 per month * 8 months</a:t>
                      </a:r>
                      <a:endParaRPr lang="en-ZA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R1,600.00</a:t>
                      </a:r>
                      <a:endParaRPr lang="en-ZA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899096"/>
                  </a:ext>
                </a:extLst>
              </a:tr>
              <a:tr h="636243">
                <a:tc>
                  <a:txBody>
                    <a:bodyPr/>
                    <a:lstStyle/>
                    <a:p>
                      <a:r>
                        <a:rPr lang="en-US" sz="1800" dirty="0"/>
                        <a:t>Salaries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Labor employed for the project’s development.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192 per hour x 180 hours per month x 7 employees x 8 months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R1,935,360.00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981115"/>
                  </a:ext>
                </a:extLst>
              </a:tr>
              <a:tr h="427104">
                <a:tc gridSpan="3"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Total budget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R1,999,760.00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637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2263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D4C01-B9C3-4061-5CAE-03B6352CF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9. INTERNAL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7C10D-B310-86F8-188F-5CD036638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The suggested internal resources for the project are:</a:t>
            </a:r>
            <a:endParaRPr lang="en-ZA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System Owner (Sponsor): Mr Vincent Govender. </a:t>
            </a:r>
          </a:p>
          <a:p>
            <a:pPr marL="0" indent="0">
              <a:buNone/>
            </a:pPr>
            <a:endParaRPr lang="en-ZA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The following system users are proposed and should be available for 15% of their time for 8 months:</a:t>
            </a:r>
            <a:endParaRPr lang="en-ZA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Travel agents Precious Moeketsi and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Liam Du Preez</a:t>
            </a:r>
            <a:endParaRPr lang="en-ZA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159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-up of a color chart&#10;&#10;AI-generated content may be incorrect.">
            <a:extLst>
              <a:ext uri="{FF2B5EF4-FFF2-40B4-BE49-F238E27FC236}">
                <a16:creationId xmlns:a16="http://schemas.microsoft.com/office/drawing/2014/main" id="{62541CF4-01E9-D47F-078A-4B5809F54A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4266" y="465552"/>
            <a:ext cx="8208981" cy="2350261"/>
          </a:xfrm>
          <a:prstGeom prst="rect">
            <a:avLst/>
          </a:prstGeom>
        </p:spPr>
      </p:pic>
      <p:pic>
        <p:nvPicPr>
          <p:cNvPr id="8" name="Picture 7" descr="A close-up of a color palette&#10;&#10;AI-generated content may be incorrect.">
            <a:extLst>
              <a:ext uri="{FF2B5EF4-FFF2-40B4-BE49-F238E27FC236}">
                <a16:creationId xmlns:a16="http://schemas.microsoft.com/office/drawing/2014/main" id="{1469DA7D-A6B3-44EF-196D-C515A35EF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2556" y="3084928"/>
            <a:ext cx="7772400" cy="260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468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902</Words>
  <Application>Microsoft Office PowerPoint</Application>
  <PresentationFormat>Widescreen</PresentationFormat>
  <Paragraphs>131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CMPG213  PROJECT SCOPE</vt:lpstr>
      <vt:lpstr>TABLE OF CONTENT</vt:lpstr>
      <vt:lpstr>1. BACKGROUND</vt:lpstr>
      <vt:lpstr>2. PROBLEM STATEMENT</vt:lpstr>
      <vt:lpstr>3. CONTRAINTS</vt:lpstr>
      <vt:lpstr>4. SCOPE DEFINITION</vt:lpstr>
      <vt:lpstr>5. PROJECT GOALS</vt:lpstr>
      <vt:lpstr>PowerPoint Presentation</vt:lpstr>
      <vt:lpstr>6. OPPORTUNITIES TO IMPROVE</vt:lpstr>
      <vt:lpstr>7. PROJECT SCHEDULE</vt:lpstr>
      <vt:lpstr>8. BUDGET</vt:lpstr>
      <vt:lpstr>9. INTERNAL RESOURCES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CMPG213  PROJECT SCOPE</dc:title>
  <dc:creator>Ruan Venter</dc:creator>
  <cp:lastModifiedBy>Reinhardt van der Walt</cp:lastModifiedBy>
  <cp:revision>4</cp:revision>
  <dcterms:created xsi:type="dcterms:W3CDTF">2026-03-01T16:56:54Z</dcterms:created>
  <dcterms:modified xsi:type="dcterms:W3CDTF">2026-08-10T19:58:24Z</dcterms:modified>
</cp:coreProperties>
</file>